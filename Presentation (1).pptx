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1" r:id="rId16"/>
    <p:sldId id="270"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evitha Sundaramoorthi" initials="JS" lastIdx="1" clrIdx="0">
    <p:extLst>
      <p:ext uri="{19B8F6BF-5375-455C-9EA6-DF929625EA0E}">
        <p15:presenceInfo xmlns:p15="http://schemas.microsoft.com/office/powerpoint/2012/main" userId="5f1aeb2d6dc58b5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commentAuthors" Target="commentAuthor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E7840-6A1E-7C48-9106-E6A165ECF910}" type="datetimeFigureOut">
              <a:rPr lang="en-US"/>
              <a:t>9/7/2025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087804-A0AB-0C49-8C8A-5A8AF2B44B51}" type="slidenum">
              <a:rPr lang="en-US"/>
              <a:t>‹#›</a:t>
            </a:fld>
            <a:endParaRPr lang="en-US"/>
          </a:p>
        </p:txBody>
      </p:sp>
    </p:spTree>
    <p:extLst>
      <p:ext uri="{BB962C8B-B14F-4D97-AF65-F5344CB8AC3E}">
        <p14:creationId xmlns:p14="http://schemas.microsoft.com/office/powerpoint/2010/main" val="2844100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 entation covers the basics of development with a focus on HTML,CSS and JavaScript. Learn how  these tecnol</a:t>
            </a:r>
          </a:p>
        </p:txBody>
      </p:sp>
      <p:sp>
        <p:nvSpPr>
          <p:cNvPr id="4" name="Slide Number Placeholder 3"/>
          <p:cNvSpPr>
            <a:spLocks noGrp="1"/>
          </p:cNvSpPr>
          <p:nvPr>
            <p:ph type="sldNum" sz="quarter" idx="5"/>
          </p:nvPr>
        </p:nvSpPr>
        <p:spPr/>
        <p:txBody>
          <a:bodyPr/>
          <a:lstStyle/>
          <a:p>
            <a:fld id="{2A087804-A0AB-0C49-8C8A-5A8AF2B44B51}" type="slidenum">
              <a:rPr lang="en-US"/>
              <a:t>2</a:t>
            </a:fld>
            <a:endParaRPr lang="en-US"/>
          </a:p>
        </p:txBody>
      </p:sp>
    </p:spTree>
    <p:extLst>
      <p:ext uri="{BB962C8B-B14F-4D97-AF65-F5344CB8AC3E}">
        <p14:creationId xmlns:p14="http://schemas.microsoft.com/office/powerpoint/2010/main" val="11965026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9/7/2025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8A87A34-81AB-432B-8DAE-1953F412C126}"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dirty="0"/>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8A87A34-81AB-432B-8DAE-1953F412C126}" type="datetimeFigureOut">
              <a:rPr lang="en-US" dirty="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dirty="0"/>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dirty="0"/>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dirty="0"/>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9/7/2025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1.xml" /><Relationship Id="rId1" Type="http://schemas.openxmlformats.org/officeDocument/2006/relationships/slideLayout" Target="../slideLayouts/slideLayout8.xml" /></Relationships>
</file>

<file path=ppt/slides/_rels/slide3.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8.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4.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EEAD0-66E3-1F79-0415-DFA49289B866}"/>
              </a:ext>
            </a:extLst>
          </p:cNvPr>
          <p:cNvSpPr>
            <a:spLocks noGrp="1"/>
          </p:cNvSpPr>
          <p:nvPr>
            <p:ph type="ctrTitle"/>
          </p:nvPr>
        </p:nvSpPr>
        <p:spPr/>
        <p:txBody>
          <a:bodyPr/>
          <a:lstStyle/>
          <a:p>
            <a:r>
              <a:rPr lang="en-US"/>
              <a:t>Introduction to web Development </a:t>
            </a:r>
          </a:p>
        </p:txBody>
      </p:sp>
      <p:sp>
        <p:nvSpPr>
          <p:cNvPr id="3" name="Subtitle 2">
            <a:extLst>
              <a:ext uri="{FF2B5EF4-FFF2-40B4-BE49-F238E27FC236}">
                <a16:creationId xmlns:a16="http://schemas.microsoft.com/office/drawing/2014/main" id="{6C3D2080-BC31-5A55-5EDA-AA896536F2B1}"/>
              </a:ext>
            </a:extLst>
          </p:cNvPr>
          <p:cNvSpPr>
            <a:spLocks noGrp="1"/>
          </p:cNvSpPr>
          <p:nvPr>
            <p:ph type="subTitle" idx="1"/>
          </p:nvPr>
        </p:nvSpPr>
        <p:spPr>
          <a:xfrm>
            <a:off x="7413812" y="4079875"/>
            <a:ext cx="8791575" cy="1655762"/>
          </a:xfrm>
        </p:spPr>
        <p:txBody>
          <a:bodyPr>
            <a:normAutofit fontScale="92500" lnSpcReduction="20000"/>
          </a:bodyPr>
          <a:lstStyle/>
          <a:p>
            <a:r>
              <a:rPr lang="en-US" b="1" i="1" u="sng"/>
              <a:t>JEEVIThA S
BSC computer </a:t>
            </a:r>
            <a:r>
              <a:rPr lang="en-US" b="1" i="1"/>
              <a:t>science</a:t>
            </a:r>
            <a:r>
              <a:rPr lang="en-US" b="1" i="1" u="sng"/>
              <a:t> 
Karan Art and science College 
Thiruvannamalai </a:t>
            </a:r>
          </a:p>
          <a:p>
            <a:endParaRPr lang="en-US" b="1" i="1" u="sng"/>
          </a:p>
        </p:txBody>
      </p:sp>
      <p:sp>
        <p:nvSpPr>
          <p:cNvPr id="4" name="TextBox 3">
            <a:extLst>
              <a:ext uri="{FF2B5EF4-FFF2-40B4-BE49-F238E27FC236}">
                <a16:creationId xmlns:a16="http://schemas.microsoft.com/office/drawing/2014/main" id="{B4EFC2C6-312F-CF2C-AC9E-D6691F153139}"/>
              </a:ext>
            </a:extLst>
          </p:cNvPr>
          <p:cNvSpPr txBox="1"/>
          <p:nvPr/>
        </p:nvSpPr>
        <p:spPr>
          <a:xfrm>
            <a:off x="7413812" y="-582706"/>
            <a:ext cx="1828800" cy="369332"/>
          </a:xfrm>
          <a:prstGeom prst="rect">
            <a:avLst/>
          </a:prstGeom>
          <a:noFill/>
        </p:spPr>
        <p:txBody>
          <a:bodyPr wrap="square" rtlCol="0">
            <a:spAutoFit/>
          </a:bodyPr>
          <a:lstStyle/>
          <a:p>
            <a:pPr algn="l"/>
            <a:endParaRPr lang="en-US" i="1"/>
          </a:p>
        </p:txBody>
      </p:sp>
    </p:spTree>
    <p:extLst>
      <p:ext uri="{BB962C8B-B14F-4D97-AF65-F5344CB8AC3E}">
        <p14:creationId xmlns:p14="http://schemas.microsoft.com/office/powerpoint/2010/main" val="938573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1C57A6-F4E2-CF01-AEC2-20F68963730B}"/>
              </a:ext>
            </a:extLst>
          </p:cNvPr>
          <p:cNvSpPr>
            <a:spLocks noGrp="1"/>
          </p:cNvSpPr>
          <p:nvPr>
            <p:ph type="title"/>
          </p:nvPr>
        </p:nvSpPr>
        <p:spPr>
          <a:xfrm>
            <a:off x="1146705" y="609601"/>
            <a:ext cx="3856037" cy="1147481"/>
          </a:xfrm>
        </p:spPr>
        <p:txBody>
          <a:bodyPr/>
          <a:lstStyle/>
          <a:p>
            <a:r>
              <a:rPr lang="en-US" b="1"/>
              <a:t>Introduction </a:t>
            </a:r>
          </a:p>
        </p:txBody>
      </p:sp>
      <p:pic>
        <p:nvPicPr>
          <p:cNvPr id="11" name="Content Placeholder 10">
            <a:extLst>
              <a:ext uri="{FF2B5EF4-FFF2-40B4-BE49-F238E27FC236}">
                <a16:creationId xmlns:a16="http://schemas.microsoft.com/office/drawing/2014/main" id="{B39A682F-E5F1-DA3C-F6B8-32A9737464A2}"/>
              </a:ext>
            </a:extLst>
          </p:cNvPr>
          <p:cNvPicPr>
            <a:picLocks noGrp="1" noChangeAspect="1"/>
          </p:cNvPicPr>
          <p:nvPr>
            <p:ph idx="1"/>
          </p:nvPr>
        </p:nvPicPr>
        <p:blipFill>
          <a:blip r:embed="rId3"/>
          <a:stretch>
            <a:fillRect/>
          </a:stretch>
        </p:blipFill>
        <p:spPr>
          <a:xfrm>
            <a:off x="5665695" y="829469"/>
            <a:ext cx="5199062" cy="5199062"/>
          </a:xfrm>
          <a:prstGeom prst="rect">
            <a:avLst/>
          </a:prstGeom>
        </p:spPr>
      </p:pic>
      <p:sp>
        <p:nvSpPr>
          <p:cNvPr id="2" name="Text Placeholder 1">
            <a:extLst>
              <a:ext uri="{FF2B5EF4-FFF2-40B4-BE49-F238E27FC236}">
                <a16:creationId xmlns:a16="http://schemas.microsoft.com/office/drawing/2014/main" id="{A0621CDF-2642-F42B-8E84-56895C1BA3D6}"/>
              </a:ext>
            </a:extLst>
          </p:cNvPr>
          <p:cNvSpPr>
            <a:spLocks noGrp="1"/>
          </p:cNvSpPr>
          <p:nvPr>
            <p:ph type="body" sz="half" idx="2"/>
          </p:nvPr>
        </p:nvSpPr>
        <p:spPr/>
        <p:txBody>
          <a:bodyPr/>
          <a:lstStyle/>
          <a:p>
            <a:r>
              <a:rPr lang="en-US" b="1">
                <a:solidFill>
                  <a:schemeClr val="bg2"/>
                </a:solidFill>
              </a:rPr>
              <a:t>Web development is the process of creating websites or web applications that run on the internet.</a:t>
            </a:r>
          </a:p>
          <a:p>
            <a:r>
              <a:rPr lang="en-US" b="1">
                <a:solidFill>
                  <a:schemeClr val="bg2"/>
                </a:solidFill>
              </a:rPr>
              <a:t>Front-End (Client-Side) → What the user sees (design, buttons, text, images).
Languages: HTML, CSS, JavaScript</a:t>
            </a:r>
          </a:p>
          <a:p>
            <a:endParaRPr lang="en-US" b="1">
              <a:solidFill>
                <a:schemeClr val="bg2"/>
              </a:solidFill>
            </a:endParaRPr>
          </a:p>
        </p:txBody>
      </p:sp>
      <p:sp>
        <p:nvSpPr>
          <p:cNvPr id="8" name="Title 1">
            <a:extLst>
              <a:ext uri="{FF2B5EF4-FFF2-40B4-BE49-F238E27FC236}">
                <a16:creationId xmlns:a16="http://schemas.microsoft.com/office/drawing/2014/main" id="{D2FFED11-E874-328A-5AEE-1DCA1BBAB9CA}"/>
              </a:ext>
            </a:extLst>
          </p:cNvPr>
          <p:cNvSpPr txBox="1">
            <a:spLocks/>
          </p:cNvSpPr>
          <p:nvPr/>
        </p:nvSpPr>
        <p:spPr>
          <a:xfrm>
            <a:off x="4083425" y="-6911835"/>
            <a:ext cx="1582270" cy="10130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a:t>Intro</a:t>
            </a:r>
          </a:p>
        </p:txBody>
      </p:sp>
    </p:spTree>
    <p:extLst>
      <p:ext uri="{BB962C8B-B14F-4D97-AF65-F5344CB8AC3E}">
        <p14:creationId xmlns:p14="http://schemas.microsoft.com/office/powerpoint/2010/main" val="3260506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58882-4E48-484F-AFEC-6EA7E83194B2}"/>
              </a:ext>
            </a:extLst>
          </p:cNvPr>
          <p:cNvSpPr>
            <a:spLocks noGrp="1"/>
          </p:cNvSpPr>
          <p:nvPr>
            <p:ph type="title"/>
          </p:nvPr>
        </p:nvSpPr>
        <p:spPr>
          <a:xfrm>
            <a:off x="1146705" y="609602"/>
            <a:ext cx="3856037" cy="1639884"/>
          </a:xfrm>
        </p:spPr>
        <p:txBody>
          <a:bodyPr/>
          <a:lstStyle/>
          <a:p>
            <a:pPr algn="ctr"/>
            <a:r>
              <a:rPr lang="en-US" b="1"/>
              <a:t>HTML</a:t>
            </a:r>
            <a:r>
              <a:rPr lang="en-US"/>
              <a:t> </a:t>
            </a:r>
            <a:r>
              <a:rPr lang="en-US" b="1"/>
              <a:t>Basics</a:t>
            </a:r>
            <a:r>
              <a:rPr lang="en-US"/>
              <a:t> </a:t>
            </a:r>
            <a:r>
              <a:rPr lang="en-US" b="1"/>
              <a:t>tags</a:t>
            </a:r>
            <a:r>
              <a:rPr lang="en-US"/>
              <a:t>, </a:t>
            </a:r>
            <a:r>
              <a:rPr lang="en-US" b="1"/>
              <a:t>Structure</a:t>
            </a:r>
            <a:r>
              <a:rPr lang="en-US"/>
              <a:t> </a:t>
            </a:r>
            <a:r>
              <a:rPr lang="en-US" b="1"/>
              <a:t>Example</a:t>
            </a:r>
            <a:endParaRPr lang="en-US"/>
          </a:p>
        </p:txBody>
      </p:sp>
      <p:pic>
        <p:nvPicPr>
          <p:cNvPr id="5" name="Content Placeholder 4">
            <a:extLst>
              <a:ext uri="{FF2B5EF4-FFF2-40B4-BE49-F238E27FC236}">
                <a16:creationId xmlns:a16="http://schemas.microsoft.com/office/drawing/2014/main" id="{F611EA37-65B2-C840-1E95-6F1A2857EB28}"/>
              </a:ext>
            </a:extLst>
          </p:cNvPr>
          <p:cNvPicPr>
            <a:picLocks noGrp="1" noChangeAspect="1"/>
          </p:cNvPicPr>
          <p:nvPr>
            <p:ph idx="1"/>
          </p:nvPr>
        </p:nvPicPr>
        <p:blipFill>
          <a:blip r:embed="rId2"/>
          <a:stretch>
            <a:fillRect/>
          </a:stretch>
        </p:blipFill>
        <p:spPr>
          <a:xfrm>
            <a:off x="5846233" y="1488141"/>
            <a:ext cx="5199062" cy="4482352"/>
          </a:xfrm>
          <a:prstGeom prst="rect">
            <a:avLst/>
          </a:prstGeom>
        </p:spPr>
      </p:pic>
      <p:sp>
        <p:nvSpPr>
          <p:cNvPr id="4" name="Text Placeholder 3">
            <a:extLst>
              <a:ext uri="{FF2B5EF4-FFF2-40B4-BE49-F238E27FC236}">
                <a16:creationId xmlns:a16="http://schemas.microsoft.com/office/drawing/2014/main" id="{75BBBEF2-DABD-821B-FB50-4F6A8E35D928}"/>
              </a:ext>
            </a:extLst>
          </p:cNvPr>
          <p:cNvSpPr>
            <a:spLocks noGrp="1"/>
          </p:cNvSpPr>
          <p:nvPr>
            <p:ph type="body" sz="half" idx="2"/>
          </p:nvPr>
        </p:nvSpPr>
        <p:spPr>
          <a:xfrm>
            <a:off x="1146705" y="2428780"/>
            <a:ext cx="3856037" cy="3111408"/>
          </a:xfrm>
        </p:spPr>
        <p:txBody>
          <a:bodyPr>
            <a:normAutofit fontScale="92500" lnSpcReduction="10000"/>
          </a:bodyPr>
          <a:lstStyle/>
          <a:p>
            <a:r>
              <a:rPr lang="en-US" b="1">
                <a:solidFill>
                  <a:schemeClr val="bg2"/>
                </a:solidFill>
              </a:rPr>
              <a:t>HTML (HyperText Markup Language) is the standard language for creating webpages.
It tells the browser what content to display and how it’s structured, but not how it looks (that’s CSS).</a:t>
            </a:r>
          </a:p>
          <a:p>
            <a:pPr marL="285750" indent="-285750">
              <a:buFont typeface="Arial" panose="020B0604020202020204" pitchFamily="34" charset="0"/>
              <a:buChar char="•"/>
            </a:pPr>
            <a:r>
              <a:rPr lang="en-US" b="1">
                <a:solidFill>
                  <a:schemeClr val="bg2"/>
                </a:solidFill>
              </a:rPr>
              <a:t>Extract the code from it
Explain what each part does
Fix errors (if any)
Give you a clean, working version</a:t>
            </a:r>
          </a:p>
          <a:p>
            <a:endParaRPr lang="en-US" b="1">
              <a:solidFill>
                <a:schemeClr val="bg2"/>
              </a:solidFill>
            </a:endParaRPr>
          </a:p>
        </p:txBody>
      </p:sp>
    </p:spTree>
    <p:extLst>
      <p:ext uri="{BB962C8B-B14F-4D97-AF65-F5344CB8AC3E}">
        <p14:creationId xmlns:p14="http://schemas.microsoft.com/office/powerpoint/2010/main" val="396863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47C99-6374-7D0D-1E07-8347500A6D62}"/>
              </a:ext>
            </a:extLst>
          </p:cNvPr>
          <p:cNvSpPr>
            <a:spLocks noGrp="1"/>
          </p:cNvSpPr>
          <p:nvPr>
            <p:ph type="title"/>
          </p:nvPr>
        </p:nvSpPr>
        <p:spPr/>
        <p:txBody>
          <a:bodyPr/>
          <a:lstStyle/>
          <a:p>
            <a:r>
              <a:rPr lang="en-US" b="1"/>
              <a:t>Example</a:t>
            </a:r>
            <a:r>
              <a:rPr lang="en-US"/>
              <a:t> </a:t>
            </a:r>
          </a:p>
        </p:txBody>
      </p:sp>
      <p:sp>
        <p:nvSpPr>
          <p:cNvPr id="3" name="Content Placeholder 2">
            <a:extLst>
              <a:ext uri="{FF2B5EF4-FFF2-40B4-BE49-F238E27FC236}">
                <a16:creationId xmlns:a16="http://schemas.microsoft.com/office/drawing/2014/main" id="{AFB21ED0-B967-186C-2F1C-56B4B66A4D3F}"/>
              </a:ext>
            </a:extLst>
          </p:cNvPr>
          <p:cNvSpPr>
            <a:spLocks noGrp="1"/>
          </p:cNvSpPr>
          <p:nvPr>
            <p:ph sz="half" idx="1"/>
          </p:nvPr>
        </p:nvSpPr>
        <p:spPr>
          <a:xfrm>
            <a:off x="1141412" y="1936376"/>
            <a:ext cx="4201553" cy="2510118"/>
          </a:xfrm>
        </p:spPr>
        <p:txBody>
          <a:bodyPr>
            <a:normAutofit fontScale="92500" lnSpcReduction="20000"/>
          </a:bodyPr>
          <a:lstStyle/>
          <a:p>
            <a:pPr marL="0" indent="0">
              <a:buNone/>
            </a:pPr>
            <a:r>
              <a:rPr lang="en-US">
                <a:solidFill>
                  <a:schemeClr val="bg2"/>
                </a:solidFill>
              </a:rPr>
              <a:t>&lt;!DOCTYPE html&gt;&lt;html&gt;&lt;head&gt;  &lt;title&gt;Page Title&lt;/title&gt;&lt;/head&gt;&lt;body&gt;  &lt;h1&gt;Hello, World!&lt;/h1&gt;  &lt;p&gt;This is my first webpage.&lt;/p&gt;&lt;/body&gt;&lt;/html&gt;</a:t>
            </a:r>
          </a:p>
        </p:txBody>
      </p:sp>
      <p:sp>
        <p:nvSpPr>
          <p:cNvPr id="4" name="Text Placeholder 3">
            <a:extLst>
              <a:ext uri="{FF2B5EF4-FFF2-40B4-BE49-F238E27FC236}">
                <a16:creationId xmlns:a16="http://schemas.microsoft.com/office/drawing/2014/main" id="{39EA9451-9B37-853A-2738-2BDF6EE3F49D}"/>
              </a:ext>
            </a:extLst>
          </p:cNvPr>
          <p:cNvSpPr>
            <a:spLocks noGrp="1"/>
          </p:cNvSpPr>
          <p:nvPr>
            <p:ph sz="half" idx="2"/>
          </p:nvPr>
        </p:nvSpPr>
        <p:spPr>
          <a:xfrm>
            <a:off x="6096001" y="1792284"/>
            <a:ext cx="4951412" cy="3998916"/>
          </a:xfrm>
        </p:spPr>
        <p:txBody>
          <a:bodyPr>
            <a:normAutofit fontScale="92500" lnSpcReduction="20000"/>
          </a:bodyPr>
          <a:lstStyle/>
          <a:p>
            <a:r>
              <a:rPr lang="en-US">
                <a:solidFill>
                  <a:schemeClr val="bg2"/>
                </a:solidFill>
              </a:rPr>
              <a:t>This is the foundation of web development. Once you’re comfortable with </a:t>
            </a:r>
            <a:r>
              <a:rPr lang="en-US" b="1">
                <a:solidFill>
                  <a:schemeClr val="bg2"/>
                </a:solidFill>
              </a:rPr>
              <a:t>HTML</a:t>
            </a:r>
            <a:r>
              <a:rPr lang="en-US">
                <a:solidFill>
                  <a:schemeClr val="bg2"/>
                </a:solidFill>
              </a:rPr>
              <a:t>, </a:t>
            </a:r>
            <a:r>
              <a:rPr lang="en-US" b="1">
                <a:solidFill>
                  <a:schemeClr val="bg2"/>
                </a:solidFill>
              </a:rPr>
              <a:t>CSS</a:t>
            </a:r>
            <a:r>
              <a:rPr lang="en-US">
                <a:solidFill>
                  <a:schemeClr val="bg2"/>
                </a:solidFill>
              </a:rPr>
              <a:t>, and </a:t>
            </a:r>
            <a:r>
              <a:rPr lang="en-US" b="1">
                <a:solidFill>
                  <a:schemeClr val="bg2"/>
                </a:solidFill>
              </a:rPr>
              <a:t>JavaScript</a:t>
            </a:r>
            <a:r>
              <a:rPr lang="en-US">
                <a:solidFill>
                  <a:schemeClr val="bg2"/>
                </a:solidFill>
              </a:rPr>
              <a:t>, you can move on to frameworks (like React, Angular, or Django) and databases.
👉 Do you want me to make a step-by-step roadmap for learning web development (from beginner to advanced)?</a:t>
            </a:r>
          </a:p>
        </p:txBody>
      </p:sp>
    </p:spTree>
    <p:extLst>
      <p:ext uri="{BB962C8B-B14F-4D97-AF65-F5344CB8AC3E}">
        <p14:creationId xmlns:p14="http://schemas.microsoft.com/office/powerpoint/2010/main" val="1651948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87275-43CF-C330-C473-E2EE6FD48ADC}"/>
              </a:ext>
            </a:extLst>
          </p:cNvPr>
          <p:cNvSpPr>
            <a:spLocks noGrp="1"/>
          </p:cNvSpPr>
          <p:nvPr>
            <p:ph type="title"/>
          </p:nvPr>
        </p:nvSpPr>
        <p:spPr>
          <a:xfrm>
            <a:off x="2129119" y="2252806"/>
            <a:ext cx="9905998" cy="1559859"/>
          </a:xfrm>
        </p:spPr>
        <p:txBody>
          <a:bodyPr/>
          <a:lstStyle/>
          <a:p>
            <a:r>
              <a:rPr lang="en-US" b="1"/>
              <a:t>CSS Types, Syntax, Styling Examples</a:t>
            </a:r>
          </a:p>
        </p:txBody>
      </p:sp>
    </p:spTree>
    <p:extLst>
      <p:ext uri="{BB962C8B-B14F-4D97-AF65-F5344CB8AC3E}">
        <p14:creationId xmlns:p14="http://schemas.microsoft.com/office/powerpoint/2010/main" val="1988168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E2D24-5C04-888D-0CBC-E937567632AE}"/>
              </a:ext>
            </a:extLst>
          </p:cNvPr>
          <p:cNvSpPr>
            <a:spLocks noGrp="1"/>
          </p:cNvSpPr>
          <p:nvPr>
            <p:ph type="title"/>
          </p:nvPr>
        </p:nvSpPr>
        <p:spPr>
          <a:xfrm>
            <a:off x="1146705" y="609602"/>
            <a:ext cx="3856037" cy="1165410"/>
          </a:xfrm>
        </p:spPr>
        <p:txBody>
          <a:bodyPr/>
          <a:lstStyle/>
          <a:p>
            <a:r>
              <a:rPr lang="en-US" b="1" i="1"/>
              <a:t>CSS Types</a:t>
            </a:r>
          </a:p>
        </p:txBody>
      </p:sp>
      <p:pic>
        <p:nvPicPr>
          <p:cNvPr id="5" name="Content Placeholder 4">
            <a:extLst>
              <a:ext uri="{FF2B5EF4-FFF2-40B4-BE49-F238E27FC236}">
                <a16:creationId xmlns:a16="http://schemas.microsoft.com/office/drawing/2014/main" id="{A648EDA6-2AC3-AD14-44A7-9929EEB6C670}"/>
              </a:ext>
            </a:extLst>
          </p:cNvPr>
          <p:cNvPicPr>
            <a:picLocks noGrp="1" noChangeAspect="1"/>
          </p:cNvPicPr>
          <p:nvPr>
            <p:ph idx="1"/>
          </p:nvPr>
        </p:nvPicPr>
        <p:blipFill>
          <a:blip r:embed="rId2"/>
          <a:stretch>
            <a:fillRect/>
          </a:stretch>
        </p:blipFill>
        <p:spPr>
          <a:xfrm>
            <a:off x="5662053" y="1040373"/>
            <a:ext cx="5383242" cy="4750827"/>
          </a:xfrm>
          <a:prstGeom prst="rect">
            <a:avLst/>
          </a:prstGeom>
        </p:spPr>
      </p:pic>
      <p:sp>
        <p:nvSpPr>
          <p:cNvPr id="4" name="Text Placeholder 3">
            <a:extLst>
              <a:ext uri="{FF2B5EF4-FFF2-40B4-BE49-F238E27FC236}">
                <a16:creationId xmlns:a16="http://schemas.microsoft.com/office/drawing/2014/main" id="{FF693195-DAEA-4801-0E6B-FABF48385125}"/>
              </a:ext>
            </a:extLst>
          </p:cNvPr>
          <p:cNvSpPr>
            <a:spLocks noGrp="1"/>
          </p:cNvSpPr>
          <p:nvPr>
            <p:ph type="body" sz="half" idx="2"/>
          </p:nvPr>
        </p:nvSpPr>
        <p:spPr>
          <a:xfrm>
            <a:off x="1146705" y="2249486"/>
            <a:ext cx="3856037" cy="2519738"/>
          </a:xfrm>
        </p:spPr>
        <p:txBody>
          <a:bodyPr/>
          <a:lstStyle/>
          <a:p>
            <a:pPr marL="285750" indent="-285750">
              <a:buFont typeface="Arial" panose="020B0604020202020204" pitchFamily="34" charset="0"/>
              <a:buChar char="•"/>
            </a:pPr>
            <a:r>
              <a:rPr lang="en-US" b="1">
                <a:solidFill>
                  <a:schemeClr val="bg2"/>
                </a:solidFill>
              </a:rPr>
              <a:t>Inline CSS → Written inside an HTML tag using the style attribute.</a:t>
            </a:r>
          </a:p>
          <a:p>
            <a:pPr marL="285750" indent="-285750">
              <a:buFont typeface="Arial" panose="020B0604020202020204" pitchFamily="34" charset="0"/>
              <a:buChar char="•"/>
            </a:pPr>
            <a:r>
              <a:rPr lang="en-US" b="1">
                <a:solidFill>
                  <a:schemeClr val="bg2"/>
                </a:solidFill>
              </a:rPr>
              <a:t>Internal CSS → Written inside the &lt;style&gt; tag in the &lt;head&gt; section.</a:t>
            </a:r>
          </a:p>
          <a:p>
            <a:pPr marL="285750" indent="-285750">
              <a:buFont typeface="Arial" panose="020B0604020202020204" pitchFamily="34" charset="0"/>
              <a:buChar char="•"/>
            </a:pPr>
            <a:r>
              <a:rPr lang="en-US" b="1">
                <a:solidFill>
                  <a:schemeClr val="bg2"/>
                </a:solidFill>
              </a:rPr>
              <a:t>External CSS → Written in a separate .css file and linked with &lt;link&gt;.</a:t>
            </a:r>
          </a:p>
        </p:txBody>
      </p:sp>
    </p:spTree>
    <p:extLst>
      <p:ext uri="{BB962C8B-B14F-4D97-AF65-F5344CB8AC3E}">
        <p14:creationId xmlns:p14="http://schemas.microsoft.com/office/powerpoint/2010/main" val="79282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13AD-135E-BCE2-144F-C905E2AAC1D2}"/>
              </a:ext>
            </a:extLst>
          </p:cNvPr>
          <p:cNvSpPr>
            <a:spLocks noGrp="1"/>
          </p:cNvSpPr>
          <p:nvPr>
            <p:ph type="title"/>
          </p:nvPr>
        </p:nvSpPr>
        <p:spPr/>
        <p:txBody>
          <a:bodyPr/>
          <a:lstStyle/>
          <a:p>
            <a:r>
              <a:rPr lang="en-US" b="1" i="1"/>
              <a:t>Syntax</a:t>
            </a:r>
          </a:p>
        </p:txBody>
      </p:sp>
      <p:sp>
        <p:nvSpPr>
          <p:cNvPr id="3" name="Subtitle 2">
            <a:extLst>
              <a:ext uri="{FF2B5EF4-FFF2-40B4-BE49-F238E27FC236}">
                <a16:creationId xmlns:a16="http://schemas.microsoft.com/office/drawing/2014/main" id="{549D5C51-0EFA-870F-B6E6-139CE347F073}"/>
              </a:ext>
            </a:extLst>
          </p:cNvPr>
          <p:cNvSpPr>
            <a:spLocks noGrp="1"/>
          </p:cNvSpPr>
          <p:nvPr>
            <p:ph idx="1"/>
          </p:nvPr>
        </p:nvSpPr>
        <p:spPr/>
        <p:txBody>
          <a:bodyPr>
            <a:normAutofit fontScale="92500" lnSpcReduction="10000"/>
          </a:bodyPr>
          <a:lstStyle/>
          <a:p>
            <a:pPr marL="0" indent="0">
              <a:buNone/>
            </a:pPr>
            <a:r>
              <a:rPr lang="en-US" b="1">
                <a:solidFill>
                  <a:schemeClr val="bg2"/>
                </a:solidFill>
              </a:rPr>
              <a:t>Selector {
  property: value;</a:t>
            </a:r>
          </a:p>
          <a:p>
            <a:pPr marL="0" indent="0">
              <a:buNone/>
            </a:pPr>
            <a:r>
              <a:rPr lang="en-US" b="1">
                <a:solidFill>
                  <a:schemeClr val="bg2"/>
                </a:solidFill>
              </a:rPr>
              <a:t>}</a:t>
            </a:r>
          </a:p>
          <a:p>
            <a:pPr marL="0" indent="0">
              <a:buNone/>
            </a:pPr>
            <a:r>
              <a:rPr lang="en-US" b="1">
                <a:solidFill>
                  <a:schemeClr val="bg2"/>
                </a:solidFill>
              </a:rPr>
              <a:t>P {
  color: red;
  font-size: 18px;
}</a:t>
            </a:r>
          </a:p>
        </p:txBody>
      </p:sp>
    </p:spTree>
    <p:extLst>
      <p:ext uri="{BB962C8B-B14F-4D97-AF65-F5344CB8AC3E}">
        <p14:creationId xmlns:p14="http://schemas.microsoft.com/office/powerpoint/2010/main" val="451547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09C17-5D27-0FC3-701D-90A5336C5BDB}"/>
              </a:ext>
            </a:extLst>
          </p:cNvPr>
          <p:cNvSpPr>
            <a:spLocks noGrp="1"/>
          </p:cNvSpPr>
          <p:nvPr>
            <p:ph type="title"/>
          </p:nvPr>
        </p:nvSpPr>
        <p:spPr>
          <a:xfrm>
            <a:off x="3872751" y="385435"/>
            <a:ext cx="9905998" cy="1478570"/>
          </a:xfrm>
        </p:spPr>
        <p:txBody>
          <a:bodyPr/>
          <a:lstStyle/>
          <a:p>
            <a:r>
              <a:rPr lang="en-US" b="1" i="1"/>
              <a:t>Styling</a:t>
            </a:r>
            <a:r>
              <a:rPr lang="en-US"/>
              <a:t> </a:t>
            </a:r>
            <a:r>
              <a:rPr lang="en-US" b="1" i="1"/>
              <a:t>Examples</a:t>
            </a:r>
          </a:p>
        </p:txBody>
      </p:sp>
      <p:sp>
        <p:nvSpPr>
          <p:cNvPr id="3" name="Content Placeholder 2">
            <a:extLst>
              <a:ext uri="{FF2B5EF4-FFF2-40B4-BE49-F238E27FC236}">
                <a16:creationId xmlns:a16="http://schemas.microsoft.com/office/drawing/2014/main" id="{AB5EA890-EF7B-3D28-D837-2F9A03E63EE1}"/>
              </a:ext>
            </a:extLst>
          </p:cNvPr>
          <p:cNvSpPr>
            <a:spLocks noGrp="1"/>
          </p:cNvSpPr>
          <p:nvPr>
            <p:ph idx="1"/>
          </p:nvPr>
        </p:nvSpPr>
        <p:spPr>
          <a:xfrm>
            <a:off x="4554069" y="1864005"/>
            <a:ext cx="5199531" cy="3828584"/>
          </a:xfrm>
        </p:spPr>
        <p:txBody>
          <a:bodyPr/>
          <a:lstStyle/>
          <a:p>
            <a:r>
              <a:rPr lang="en-US" b="1">
                <a:solidFill>
                  <a:schemeClr val="bg2"/>
                </a:solidFill>
              </a:rPr>
              <a:t>Text Styling</a:t>
            </a:r>
          </a:p>
          <a:p>
            <a:r>
              <a:rPr lang="en-US" b="1">
                <a:solidFill>
                  <a:schemeClr val="bg2"/>
                </a:solidFill>
              </a:rPr>
              <a:t>Background &amp; Colors</a:t>
            </a:r>
          </a:p>
          <a:p>
            <a:r>
              <a:rPr lang="en-US" b="1">
                <a:solidFill>
                  <a:schemeClr val="bg2"/>
                </a:solidFill>
              </a:rPr>
              <a:t>Borders &amp; Padding</a:t>
            </a:r>
          </a:p>
          <a:p>
            <a:r>
              <a:rPr lang="en-US" b="1">
                <a:solidFill>
                  <a:schemeClr val="bg2"/>
                </a:solidFill>
              </a:rPr>
              <a:t>Buttons Styling</a:t>
            </a:r>
          </a:p>
          <a:p>
            <a:r>
              <a:rPr lang="en-US" b="1">
                <a:solidFill>
                  <a:schemeClr val="bg2"/>
                </a:solidFill>
              </a:rPr>
              <a:t>Layout with Flexbox</a:t>
            </a:r>
          </a:p>
          <a:p>
            <a:endParaRPr lang="en-US" b="1">
              <a:solidFill>
                <a:schemeClr val="bg2"/>
              </a:solidFill>
            </a:endParaRPr>
          </a:p>
        </p:txBody>
      </p:sp>
    </p:spTree>
    <p:extLst>
      <p:ext uri="{BB962C8B-B14F-4D97-AF65-F5344CB8AC3E}">
        <p14:creationId xmlns:p14="http://schemas.microsoft.com/office/powerpoint/2010/main" val="102051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AE588-B45B-A900-7CFF-A0980D20BCD4}"/>
              </a:ext>
            </a:extLst>
          </p:cNvPr>
          <p:cNvSpPr>
            <a:spLocks noGrp="1"/>
          </p:cNvSpPr>
          <p:nvPr>
            <p:ph type="title"/>
          </p:nvPr>
        </p:nvSpPr>
        <p:spPr>
          <a:xfrm>
            <a:off x="2420471" y="1407412"/>
            <a:ext cx="7963552" cy="2810482"/>
          </a:xfrm>
        </p:spPr>
        <p:txBody>
          <a:bodyPr/>
          <a:lstStyle/>
          <a:p>
            <a:r>
              <a:rPr lang="en-US" b="1"/>
              <a:t>JavaScript</a:t>
            </a:r>
            <a:r>
              <a:rPr lang="en-US"/>
              <a:t> </a:t>
            </a:r>
            <a:r>
              <a:rPr lang="en-US" b="1"/>
              <a:t>Introduction</a:t>
            </a:r>
            <a:r>
              <a:rPr lang="en-US"/>
              <a:t>, </a:t>
            </a:r>
            <a:r>
              <a:rPr lang="en-US" b="1"/>
              <a:t>features</a:t>
            </a:r>
            <a:r>
              <a:rPr lang="en-US"/>
              <a:t>, </a:t>
            </a:r>
            <a:r>
              <a:rPr lang="en-US" b="1"/>
              <a:t>simple</a:t>
            </a:r>
            <a:r>
              <a:rPr lang="en-US"/>
              <a:t> </a:t>
            </a:r>
            <a:r>
              <a:rPr lang="en-US" b="1"/>
              <a:t>programs</a:t>
            </a:r>
            <a:r>
              <a:rPr lang="en-US"/>
              <a:t>, </a:t>
            </a:r>
            <a:r>
              <a:rPr lang="en-US" b="1"/>
              <a:t>Uses</a:t>
            </a:r>
            <a:r>
              <a:rPr lang="en-US"/>
              <a:t> </a:t>
            </a:r>
          </a:p>
        </p:txBody>
      </p:sp>
    </p:spTree>
    <p:extLst>
      <p:ext uri="{BB962C8B-B14F-4D97-AF65-F5344CB8AC3E}">
        <p14:creationId xmlns:p14="http://schemas.microsoft.com/office/powerpoint/2010/main" val="1489537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190F6-5DBE-BD5F-86A5-4C3691F17773}"/>
              </a:ext>
            </a:extLst>
          </p:cNvPr>
          <p:cNvSpPr>
            <a:spLocks noGrp="1"/>
          </p:cNvSpPr>
          <p:nvPr>
            <p:ph type="title"/>
          </p:nvPr>
        </p:nvSpPr>
        <p:spPr/>
        <p:txBody>
          <a:bodyPr/>
          <a:lstStyle/>
          <a:p>
            <a:pPr marL="571500" indent="-571500">
              <a:buFont typeface="Arial" panose="020B0604020202020204" pitchFamily="34" charset="0"/>
              <a:buChar char="•"/>
            </a:pPr>
            <a:r>
              <a:rPr lang="en-US" b="1" i="1"/>
              <a:t>JavaScript</a:t>
            </a:r>
            <a:r>
              <a:rPr lang="en-US"/>
              <a:t> </a:t>
            </a:r>
            <a:r>
              <a:rPr lang="en-US" b="1" i="1"/>
              <a:t>Introduction</a:t>
            </a:r>
          </a:p>
        </p:txBody>
      </p:sp>
      <p:sp>
        <p:nvSpPr>
          <p:cNvPr id="3" name="Content Placeholder 2">
            <a:extLst>
              <a:ext uri="{FF2B5EF4-FFF2-40B4-BE49-F238E27FC236}">
                <a16:creationId xmlns:a16="http://schemas.microsoft.com/office/drawing/2014/main" id="{24FFBC42-3AFA-55B5-D487-87B231604B31}"/>
              </a:ext>
            </a:extLst>
          </p:cNvPr>
          <p:cNvSpPr>
            <a:spLocks noGrp="1"/>
          </p:cNvSpPr>
          <p:nvPr>
            <p:ph sz="half" idx="1"/>
          </p:nvPr>
        </p:nvSpPr>
        <p:spPr>
          <a:xfrm>
            <a:off x="1141414" y="2249486"/>
            <a:ext cx="4183622" cy="3541714"/>
          </a:xfrm>
        </p:spPr>
        <p:txBody>
          <a:bodyPr vert="horz">
            <a:normAutofit/>
          </a:bodyPr>
          <a:lstStyle/>
          <a:p>
            <a:pPr marL="0" indent="0">
              <a:buNone/>
            </a:pPr>
            <a:r>
              <a:rPr lang="en-US" b="1" baseline="-25000">
                <a:solidFill>
                  <a:schemeClr val="bg2"/>
                </a:solidFill>
              </a:rPr>
              <a:t>
JavaScript (JS) is a programming language used mainly for making web pages interactive.
HTML → Structure
CSS → Design
JavaScript → Interactivity &amp; Logic
It runs directly in the browser (no installation needed).</a:t>
            </a:r>
          </a:p>
        </p:txBody>
      </p:sp>
      <p:pic>
        <p:nvPicPr>
          <p:cNvPr id="8" name="Content Placeholder 7">
            <a:extLst>
              <a:ext uri="{FF2B5EF4-FFF2-40B4-BE49-F238E27FC236}">
                <a16:creationId xmlns:a16="http://schemas.microsoft.com/office/drawing/2014/main" id="{ADC84042-94FF-0AEC-C254-D3135E7E9455}"/>
              </a:ext>
            </a:extLst>
          </p:cNvPr>
          <p:cNvPicPr>
            <a:picLocks noGrp="1" noChangeAspect="1"/>
          </p:cNvPicPr>
          <p:nvPr>
            <p:ph sz="half" idx="2"/>
          </p:nvPr>
        </p:nvPicPr>
        <p:blipFill>
          <a:blip r:embed="rId2"/>
          <a:stretch>
            <a:fillRect/>
          </a:stretch>
        </p:blipFill>
        <p:spPr>
          <a:xfrm>
            <a:off x="6172200" y="2097088"/>
            <a:ext cx="4875213" cy="3694112"/>
          </a:xfrm>
          <a:prstGeom prst="rect">
            <a:avLst/>
          </a:prstGeom>
        </p:spPr>
      </p:pic>
    </p:spTree>
    <p:extLst>
      <p:ext uri="{BB962C8B-B14F-4D97-AF65-F5344CB8AC3E}">
        <p14:creationId xmlns:p14="http://schemas.microsoft.com/office/powerpoint/2010/main" val="1122282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4C9B8-36D1-C997-15E9-4D047E7EB4B7}"/>
              </a:ext>
            </a:extLst>
          </p:cNvPr>
          <p:cNvSpPr>
            <a:spLocks noGrp="1"/>
          </p:cNvSpPr>
          <p:nvPr>
            <p:ph type="title"/>
          </p:nvPr>
        </p:nvSpPr>
        <p:spPr/>
        <p:txBody>
          <a:bodyPr/>
          <a:lstStyle/>
          <a:p>
            <a:pPr marL="571500" indent="-571500">
              <a:buFont typeface="Arial" panose="020B0604020202020204" pitchFamily="34" charset="0"/>
              <a:buChar char="•"/>
            </a:pPr>
            <a:r>
              <a:rPr lang="en-US" b="1" i="1"/>
              <a:t>features</a:t>
            </a:r>
          </a:p>
        </p:txBody>
      </p:sp>
      <p:sp>
        <p:nvSpPr>
          <p:cNvPr id="3" name="Content Placeholder 2">
            <a:extLst>
              <a:ext uri="{FF2B5EF4-FFF2-40B4-BE49-F238E27FC236}">
                <a16:creationId xmlns:a16="http://schemas.microsoft.com/office/drawing/2014/main" id="{27EA21FB-E5E2-4990-E4CF-DF8CC19B7851}"/>
              </a:ext>
            </a:extLst>
          </p:cNvPr>
          <p:cNvSpPr>
            <a:spLocks noGrp="1"/>
          </p:cNvSpPr>
          <p:nvPr>
            <p:ph idx="1"/>
          </p:nvPr>
        </p:nvSpPr>
        <p:spPr/>
        <p:txBody>
          <a:bodyPr>
            <a:normAutofit fontScale="92500"/>
          </a:bodyPr>
          <a:lstStyle/>
          <a:p>
            <a:pPr marL="0" indent="0">
              <a:buNone/>
            </a:pPr>
            <a:r>
              <a:rPr lang="en-US" b="1">
                <a:solidFill>
                  <a:schemeClr val="bg2"/>
                </a:solidFill>
              </a:rPr>
              <a:t>Features of JavaScript
1. Lightweight &amp; Easy to Learn
2. Client-Side Execution → Runs in the browser (fast).
3. Event-Based → Responds to clicks, inputs, keypresses.
4. Versatile → Works for web, mobile apps, games, and even servers (Node.js).
5. Platform Independent → Runs on any OS with a browser.</a:t>
            </a:r>
          </a:p>
          <a:p>
            <a:endParaRPr lang="en-US" b="1">
              <a:solidFill>
                <a:schemeClr val="bg2"/>
              </a:solidFill>
            </a:endParaRPr>
          </a:p>
        </p:txBody>
      </p:sp>
    </p:spTree>
    <p:extLst>
      <p:ext uri="{BB962C8B-B14F-4D97-AF65-F5344CB8AC3E}">
        <p14:creationId xmlns:p14="http://schemas.microsoft.com/office/powerpoint/2010/main" val="2398333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8C32F-6A29-24C6-3C87-2A698B322FFF}"/>
              </a:ext>
            </a:extLst>
          </p:cNvPr>
          <p:cNvSpPr>
            <a:spLocks noGrp="1"/>
          </p:cNvSpPr>
          <p:nvPr>
            <p:ph type="title"/>
          </p:nvPr>
        </p:nvSpPr>
        <p:spPr>
          <a:xfrm>
            <a:off x="3382590" y="453020"/>
            <a:ext cx="9905998" cy="1478570"/>
          </a:xfrm>
        </p:spPr>
        <p:txBody>
          <a:bodyPr/>
          <a:lstStyle/>
          <a:p>
            <a:pPr marL="571500" indent="-571500">
              <a:buFont typeface="Arial" panose="020B0604020202020204" pitchFamily="34" charset="0"/>
              <a:buChar char="•"/>
            </a:pPr>
            <a:r>
              <a:rPr lang="en-US" b="1" i="1"/>
              <a:t>Simple</a:t>
            </a:r>
            <a:r>
              <a:rPr lang="en-US"/>
              <a:t> </a:t>
            </a:r>
            <a:r>
              <a:rPr lang="en-US" b="1" i="1"/>
              <a:t>programs</a:t>
            </a:r>
          </a:p>
        </p:txBody>
      </p:sp>
      <p:sp>
        <p:nvSpPr>
          <p:cNvPr id="3" name="Content Placeholder 2">
            <a:extLst>
              <a:ext uri="{FF2B5EF4-FFF2-40B4-BE49-F238E27FC236}">
                <a16:creationId xmlns:a16="http://schemas.microsoft.com/office/drawing/2014/main" id="{5ADD74FC-6642-4578-CCD7-329375BE5516}"/>
              </a:ext>
            </a:extLst>
          </p:cNvPr>
          <p:cNvSpPr>
            <a:spLocks noGrp="1"/>
          </p:cNvSpPr>
          <p:nvPr>
            <p:ph idx="1"/>
          </p:nvPr>
        </p:nvSpPr>
        <p:spPr>
          <a:xfrm>
            <a:off x="4320987" y="1775012"/>
            <a:ext cx="3460377" cy="3962400"/>
          </a:xfrm>
        </p:spPr>
        <p:txBody>
          <a:bodyPr>
            <a:normAutofit fontScale="62500" lnSpcReduction="20000"/>
          </a:bodyPr>
          <a:lstStyle/>
          <a:p>
            <a:pPr marL="0" indent="0" algn="ctr">
              <a:buNone/>
            </a:pPr>
            <a:r>
              <a:rPr lang="en-US" b="1">
                <a:solidFill>
                  <a:schemeClr val="bg2"/>
                </a:solidFill>
              </a:rPr>
              <a:t>Print a message
&lt;script&gt;
  document.write(“Hello, World!”);
&lt;/script&gt;</a:t>
            </a:r>
          </a:p>
          <a:p>
            <a:pPr marL="0" indent="0" algn="ctr">
              <a:buNone/>
            </a:pPr>
            <a:r>
              <a:rPr lang="en-US" b="1">
                <a:solidFill>
                  <a:schemeClr val="bg2"/>
                </a:solidFill>
              </a:rPr>
              <a:t>Variables and Arithmetic
&lt;script&gt;
  let a = 10;
  let b = 20;
  let sum = a + b;
  document.write(“Sum: “ + sum);
&lt;/script&gt;</a:t>
            </a:r>
          </a:p>
        </p:txBody>
      </p:sp>
    </p:spTree>
    <p:extLst>
      <p:ext uri="{BB962C8B-B14F-4D97-AF65-F5344CB8AC3E}">
        <p14:creationId xmlns:p14="http://schemas.microsoft.com/office/powerpoint/2010/main" val="731955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D0877-7779-F788-FC62-414798AA6573}"/>
              </a:ext>
            </a:extLst>
          </p:cNvPr>
          <p:cNvSpPr>
            <a:spLocks noGrp="1"/>
          </p:cNvSpPr>
          <p:nvPr>
            <p:ph type="title"/>
          </p:nvPr>
        </p:nvSpPr>
        <p:spPr/>
        <p:txBody>
          <a:bodyPr/>
          <a:lstStyle/>
          <a:p>
            <a:pPr marL="571500" indent="-571500">
              <a:buFont typeface="Arial" panose="020B0604020202020204" pitchFamily="34" charset="0"/>
              <a:buChar char="•"/>
            </a:pPr>
            <a:r>
              <a:rPr lang="en-US" b="1" i="1"/>
              <a:t>Uses</a:t>
            </a:r>
            <a:r>
              <a:rPr lang="en-US"/>
              <a:t> </a:t>
            </a:r>
            <a:r>
              <a:rPr lang="en-US" b="1" i="1"/>
              <a:t>of</a:t>
            </a:r>
            <a:r>
              <a:rPr lang="en-US"/>
              <a:t> </a:t>
            </a:r>
            <a:r>
              <a:rPr lang="en-US" b="1" i="1"/>
              <a:t>JavaScript</a:t>
            </a:r>
            <a:r>
              <a:rPr lang="en-US"/>
              <a:t> </a:t>
            </a:r>
          </a:p>
        </p:txBody>
      </p:sp>
      <p:sp>
        <p:nvSpPr>
          <p:cNvPr id="3" name="Content Placeholder 2">
            <a:extLst>
              <a:ext uri="{FF2B5EF4-FFF2-40B4-BE49-F238E27FC236}">
                <a16:creationId xmlns:a16="http://schemas.microsoft.com/office/drawing/2014/main" id="{881E087D-0279-48EB-181B-CD0743DEF727}"/>
              </a:ext>
            </a:extLst>
          </p:cNvPr>
          <p:cNvSpPr>
            <a:spLocks noGrp="1"/>
          </p:cNvSpPr>
          <p:nvPr>
            <p:ph idx="1"/>
          </p:nvPr>
        </p:nvSpPr>
        <p:spPr>
          <a:xfrm>
            <a:off x="1141413" y="2249487"/>
            <a:ext cx="9905999" cy="3541714"/>
          </a:xfrm>
        </p:spPr>
        <p:txBody>
          <a:bodyPr/>
          <a:lstStyle/>
          <a:p>
            <a:r>
              <a:rPr lang="en-US" b="1">
                <a:solidFill>
                  <a:schemeClr val="bg2"/>
                </a:solidFill>
              </a:rPr>
              <a:t>Web Development</a:t>
            </a:r>
          </a:p>
          <a:p>
            <a:r>
              <a:rPr lang="en-US" b="1">
                <a:solidFill>
                  <a:schemeClr val="bg2"/>
                </a:solidFill>
              </a:rPr>
              <a:t>Server-Side Development</a:t>
            </a:r>
          </a:p>
          <a:p>
            <a:r>
              <a:rPr lang="en-US" b="1">
                <a:solidFill>
                  <a:schemeClr val="bg2"/>
                </a:solidFill>
              </a:rPr>
              <a:t>Mobile Apps</a:t>
            </a:r>
          </a:p>
          <a:p>
            <a:r>
              <a:rPr lang="en-US" b="1">
                <a:solidFill>
                  <a:schemeClr val="bg2"/>
                </a:solidFill>
              </a:rPr>
              <a:t>Game Development</a:t>
            </a:r>
          </a:p>
          <a:p>
            <a:r>
              <a:rPr lang="en-US" b="1">
                <a:solidFill>
                  <a:schemeClr val="bg2"/>
                </a:solidFill>
              </a:rPr>
              <a:t>Machine Learning &amp; Data Visualization</a:t>
            </a:r>
          </a:p>
          <a:p>
            <a:endParaRPr lang="en-US" b="1">
              <a:solidFill>
                <a:schemeClr val="bg2"/>
              </a:solidFill>
            </a:endParaRPr>
          </a:p>
        </p:txBody>
      </p:sp>
    </p:spTree>
    <p:extLst>
      <p:ext uri="{BB962C8B-B14F-4D97-AF65-F5344CB8AC3E}">
        <p14:creationId xmlns:p14="http://schemas.microsoft.com/office/powerpoint/2010/main" val="1199651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CB7B5-319B-FDEC-04F2-5FAB611DDC87}"/>
              </a:ext>
            </a:extLst>
          </p:cNvPr>
          <p:cNvSpPr>
            <a:spLocks noGrp="1"/>
          </p:cNvSpPr>
          <p:nvPr>
            <p:ph type="title"/>
          </p:nvPr>
        </p:nvSpPr>
        <p:spPr/>
        <p:txBody>
          <a:bodyPr/>
          <a:lstStyle/>
          <a:p>
            <a:pPr marL="571500" indent="-571500">
              <a:buFont typeface="Arial" panose="020B0604020202020204" pitchFamily="34" charset="0"/>
              <a:buChar char="•"/>
            </a:pPr>
            <a:r>
              <a:rPr lang="en-US" b="1" i="1"/>
              <a:t>Real-time</a:t>
            </a:r>
            <a:r>
              <a:rPr lang="en-US"/>
              <a:t> </a:t>
            </a:r>
            <a:r>
              <a:rPr lang="en-US" b="1" i="1"/>
              <a:t>Application</a:t>
            </a:r>
            <a:r>
              <a:rPr lang="en-US"/>
              <a:t>/</a:t>
            </a:r>
            <a:r>
              <a:rPr lang="en-US" b="1" i="1"/>
              <a:t>Important</a:t>
            </a:r>
            <a:r>
              <a:rPr lang="en-US"/>
              <a:t> </a:t>
            </a:r>
            <a:r>
              <a:rPr lang="en-US" b="1"/>
              <a:t>in</a:t>
            </a:r>
            <a:r>
              <a:rPr lang="en-US"/>
              <a:t> </a:t>
            </a:r>
            <a:r>
              <a:rPr lang="en-US" b="1" i="1"/>
              <a:t>Web</a:t>
            </a:r>
            <a:r>
              <a:rPr lang="en-US"/>
              <a:t> </a:t>
            </a:r>
            <a:r>
              <a:rPr lang="en-US" b="1" i="1"/>
              <a:t>Development</a:t>
            </a:r>
            <a:r>
              <a:rPr lang="en-US"/>
              <a:t> </a:t>
            </a:r>
          </a:p>
        </p:txBody>
      </p:sp>
      <p:sp>
        <p:nvSpPr>
          <p:cNvPr id="3" name="Content Placeholder 2">
            <a:extLst>
              <a:ext uri="{FF2B5EF4-FFF2-40B4-BE49-F238E27FC236}">
                <a16:creationId xmlns:a16="http://schemas.microsoft.com/office/drawing/2014/main" id="{952FD957-452F-AF42-EEED-C927B0FE4513}"/>
              </a:ext>
            </a:extLst>
          </p:cNvPr>
          <p:cNvSpPr>
            <a:spLocks noGrp="1"/>
          </p:cNvSpPr>
          <p:nvPr>
            <p:ph idx="1"/>
          </p:nvPr>
        </p:nvSpPr>
        <p:spPr>
          <a:xfrm>
            <a:off x="1141413" y="2097088"/>
            <a:ext cx="9905999" cy="3541714"/>
          </a:xfrm>
        </p:spPr>
        <p:txBody>
          <a:bodyPr>
            <a:normAutofit fontScale="92500" lnSpcReduction="20000"/>
          </a:bodyPr>
          <a:lstStyle/>
          <a:p>
            <a:r>
              <a:rPr lang="en-US" b="1">
                <a:solidFill>
                  <a:schemeClr val="bg2"/>
                </a:solidFill>
              </a:rPr>
              <a:t>Importance of Web Development
Web development is everywhere — every website, app, and online tool you use is built with it.
It allows businesses, organizations, and individuals to:
Share information (Wikipedia, Blogs)
Sell products &amp; services (Amazon, Flipkart)
Provide communication (WhatsApp Web, Gmail)
Offer entertainment (YouTube, Netflix)</a:t>
            </a:r>
          </a:p>
          <a:p>
            <a:endParaRPr lang="en-US" b="1">
              <a:solidFill>
                <a:schemeClr val="bg2"/>
              </a:solidFill>
            </a:endParaRPr>
          </a:p>
        </p:txBody>
      </p:sp>
    </p:spTree>
    <p:extLst>
      <p:ext uri="{BB962C8B-B14F-4D97-AF65-F5344CB8AC3E}">
        <p14:creationId xmlns:p14="http://schemas.microsoft.com/office/powerpoint/2010/main" val="1659607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E8F7-9799-6112-BD28-6EF66B83891F}"/>
              </a:ext>
            </a:extLst>
          </p:cNvPr>
          <p:cNvSpPr>
            <a:spLocks noGrp="1"/>
          </p:cNvSpPr>
          <p:nvPr>
            <p:ph type="title"/>
          </p:nvPr>
        </p:nvSpPr>
        <p:spPr/>
        <p:txBody>
          <a:bodyPr/>
          <a:lstStyle/>
          <a:p>
            <a:pPr marL="571500" indent="-571500">
              <a:buFont typeface="Arial" panose="020B0604020202020204" pitchFamily="34" charset="0"/>
              <a:buChar char="•"/>
            </a:pPr>
            <a:r>
              <a:rPr lang="en-US" b="1" i="1"/>
              <a:t>Reference</a:t>
            </a:r>
          </a:p>
        </p:txBody>
      </p:sp>
      <p:sp>
        <p:nvSpPr>
          <p:cNvPr id="3" name="Content Placeholder 2">
            <a:extLst>
              <a:ext uri="{FF2B5EF4-FFF2-40B4-BE49-F238E27FC236}">
                <a16:creationId xmlns:a16="http://schemas.microsoft.com/office/drawing/2014/main" id="{C4516919-84DF-6CDE-DE5D-32019D076B87}"/>
              </a:ext>
            </a:extLst>
          </p:cNvPr>
          <p:cNvSpPr>
            <a:spLocks noGrp="1"/>
          </p:cNvSpPr>
          <p:nvPr>
            <p:ph idx="1"/>
          </p:nvPr>
        </p:nvSpPr>
        <p:spPr>
          <a:xfrm>
            <a:off x="1437246" y="2097088"/>
            <a:ext cx="9905999" cy="3541714"/>
          </a:xfrm>
        </p:spPr>
        <p:txBody>
          <a:bodyPr>
            <a:normAutofit/>
          </a:bodyPr>
          <a:lstStyle/>
          <a:p>
            <a:pPr marL="0" indent="0">
              <a:buNone/>
            </a:pPr>
            <a:r>
              <a:rPr lang="en-US" b="1">
                <a:solidFill>
                  <a:schemeClr val="bg2"/>
                </a:solidFill>
              </a:rPr>
              <a:t>
1. W3Schools – Web Development Tutorials
2. MDN Web Docs – HTML, CSS, JavaScript
3. GeeksforGeeks – Web Development Basics
4. freeCodeCamp – Learn Web Development</a:t>
            </a:r>
          </a:p>
        </p:txBody>
      </p:sp>
    </p:spTree>
    <p:extLst>
      <p:ext uri="{BB962C8B-B14F-4D97-AF65-F5344CB8AC3E}">
        <p14:creationId xmlns:p14="http://schemas.microsoft.com/office/powerpoint/2010/main" val="457783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0237-5484-F301-7F99-E2B21D66B74E}"/>
              </a:ext>
            </a:extLst>
          </p:cNvPr>
          <p:cNvSpPr>
            <a:spLocks noGrp="1"/>
          </p:cNvSpPr>
          <p:nvPr>
            <p:ph type="title"/>
          </p:nvPr>
        </p:nvSpPr>
        <p:spPr/>
        <p:txBody>
          <a:bodyPr/>
          <a:lstStyle/>
          <a:p>
            <a:pPr marL="571500" indent="-571500">
              <a:buFont typeface="Arial" panose="020B0604020202020204" pitchFamily="34" charset="0"/>
              <a:buChar char="•"/>
            </a:pPr>
            <a:r>
              <a:rPr lang="en-US" b="1" i="1"/>
              <a:t>Conclusion</a:t>
            </a:r>
            <a:r>
              <a:rPr lang="en-US"/>
              <a:t> </a:t>
            </a:r>
            <a:endParaRPr lang="en-US" b="1" i="1"/>
          </a:p>
        </p:txBody>
      </p:sp>
      <p:sp>
        <p:nvSpPr>
          <p:cNvPr id="3" name="Content Placeholder 2">
            <a:extLst>
              <a:ext uri="{FF2B5EF4-FFF2-40B4-BE49-F238E27FC236}">
                <a16:creationId xmlns:a16="http://schemas.microsoft.com/office/drawing/2014/main" id="{DCE5D5DA-E762-8BCC-A66A-BAC75A284030}"/>
              </a:ext>
            </a:extLst>
          </p:cNvPr>
          <p:cNvSpPr>
            <a:spLocks noGrp="1"/>
          </p:cNvSpPr>
          <p:nvPr>
            <p:ph idx="1"/>
          </p:nvPr>
        </p:nvSpPr>
        <p:spPr/>
        <p:txBody>
          <a:bodyPr>
            <a:normAutofit/>
          </a:bodyPr>
          <a:lstStyle/>
          <a:p>
            <a:r>
              <a:rPr lang="en-US" b="1">
                <a:solidFill>
                  <a:schemeClr val="bg2"/>
                </a:solidFill>
              </a:rPr>
              <a:t>Conclusion
Web development is the backbone of the modern internet.
HTML provides the structure of web pages.
CSS makes them attractive and responsive with styling.
JavaScript adds interactivity and logic, making web pages dynamic.</a:t>
            </a:r>
          </a:p>
        </p:txBody>
      </p:sp>
    </p:spTree>
    <p:extLst>
      <p:ext uri="{BB962C8B-B14F-4D97-AF65-F5344CB8AC3E}">
        <p14:creationId xmlns:p14="http://schemas.microsoft.com/office/powerpoint/2010/main" val="1285016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33167C-B42B-B443-2BFC-EF4FE498A26A}"/>
              </a:ext>
            </a:extLst>
          </p:cNvPr>
          <p:cNvSpPr>
            <a:spLocks noGrp="1"/>
          </p:cNvSpPr>
          <p:nvPr>
            <p:ph type="title"/>
          </p:nvPr>
        </p:nvSpPr>
        <p:spPr>
          <a:xfrm>
            <a:off x="4153555" y="1779494"/>
            <a:ext cx="9905998" cy="3299012"/>
          </a:xfrm>
        </p:spPr>
        <p:txBody>
          <a:bodyPr/>
          <a:lstStyle/>
          <a:p>
            <a:r>
              <a:rPr lang="en-US"/>
              <a:t>🔸</a:t>
            </a:r>
            <a:r>
              <a:rPr lang="en-US" b="1" i="1">
                <a:solidFill>
                  <a:schemeClr val="bg2"/>
                </a:solidFill>
              </a:rPr>
              <a:t>Thank You</a:t>
            </a:r>
            <a:r>
              <a:rPr lang="en-US"/>
              <a:t>…</a:t>
            </a:r>
          </a:p>
        </p:txBody>
      </p:sp>
      <p:sp>
        <p:nvSpPr>
          <p:cNvPr id="7" name="TextBox 6">
            <a:extLst>
              <a:ext uri="{FF2B5EF4-FFF2-40B4-BE49-F238E27FC236}">
                <a16:creationId xmlns:a16="http://schemas.microsoft.com/office/drawing/2014/main" id="{512C9162-049D-2B65-E493-28F694A99804}"/>
              </a:ext>
            </a:extLst>
          </p:cNvPr>
          <p:cNvSpPr txBox="1"/>
          <p:nvPr/>
        </p:nvSpPr>
        <p:spPr>
          <a:xfrm>
            <a:off x="5172635" y="2519082"/>
            <a:ext cx="1828800" cy="1828800"/>
          </a:xfrm>
          <a:prstGeom prst="rect">
            <a:avLst/>
          </a:prstGeom>
          <a:noFill/>
        </p:spPr>
        <p:txBody>
          <a:bodyPr wrap="square" rtlCol="0">
            <a:spAutoFit/>
          </a:bodyPr>
          <a:lstStyle/>
          <a:p>
            <a:pPr algn="l"/>
            <a:endParaRPr lang="en-US"/>
          </a:p>
        </p:txBody>
      </p:sp>
    </p:spTree>
    <p:extLst>
      <p:ext uri="{BB962C8B-B14F-4D97-AF65-F5344CB8AC3E}">
        <p14:creationId xmlns:p14="http://schemas.microsoft.com/office/powerpoint/2010/main" val="41491026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1</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Circuit</vt:lpstr>
      <vt:lpstr>Introduction to web Development </vt:lpstr>
      <vt:lpstr>Introduction </vt:lpstr>
      <vt:lpstr>HTML Basics tags, Structure Example</vt:lpstr>
      <vt:lpstr>Example </vt:lpstr>
      <vt:lpstr>CSS Types, Syntax, Styling Examples</vt:lpstr>
      <vt:lpstr>CSS Types</vt:lpstr>
      <vt:lpstr>Syntax</vt:lpstr>
      <vt:lpstr>Styling Examples</vt:lpstr>
      <vt:lpstr>JavaScript Introduction, features, simple programs, Uses </vt:lpstr>
      <vt:lpstr>JavaScript Introduction</vt:lpstr>
      <vt:lpstr>features</vt:lpstr>
      <vt:lpstr>Simple programs</vt:lpstr>
      <vt:lpstr>Uses of JavaScript </vt:lpstr>
      <vt:lpstr>Real-time Application/Important in Web Development </vt:lpstr>
      <vt:lpstr>Reference</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web Development </dc:title>
  <dc:creator>Jeevitha Sundaramoorthi</dc:creator>
  <cp:lastModifiedBy>Jeevitha Sundaramoorthi</cp:lastModifiedBy>
  <cp:revision>4</cp:revision>
  <dcterms:created xsi:type="dcterms:W3CDTF">2025-09-07T13:38:24Z</dcterms:created>
  <dcterms:modified xsi:type="dcterms:W3CDTF">2025-09-07T16:31:34Z</dcterms:modified>
</cp:coreProperties>
</file>